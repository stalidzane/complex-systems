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71" r:id="rId4"/>
    <p:sldId id="266" r:id="rId5"/>
    <p:sldId id="267" r:id="rId6"/>
    <p:sldId id="272" r:id="rId7"/>
    <p:sldId id="269" r:id="rId8"/>
    <p:sldId id="270" r:id="rId9"/>
    <p:sldId id="268" r:id="rId10"/>
  </p:sldIdLst>
  <p:sldSz cx="10080625" cy="7559675"/>
  <p:notesSz cx="7559675" cy="10691813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7"/>
    <p:restoredTop sz="94658"/>
  </p:normalViewPr>
  <p:slideViewPr>
    <p:cSldViewPr snapToGrid="0" snapToObjects="1">
      <p:cViewPr varScale="1">
        <p:scale>
          <a:sx n="109" d="100"/>
          <a:sy n="109" d="100"/>
        </p:scale>
        <p:origin x="1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F4C4F-2801-0D4A-A358-A48AE80AAFE1}" type="datetimeFigureOut">
              <a:rPr lang="en-IT" smtClean="0"/>
              <a:t>3/16/26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E8CD7-E490-6841-936B-44811800E485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9846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4BB3AE1-6B6C-4749-A4CC-E0FB9B241DA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6857B6F-6F0C-5E49-919E-A426F23E1D3C}" type="slidenum">
              <a:rPr lang="en-US" altLang="en-IT"/>
              <a:pPr/>
              <a:t>3</a:t>
            </a:fld>
            <a:endParaRPr lang="en-US" altLang="en-IT"/>
          </a:p>
        </p:txBody>
      </p:sp>
      <p:sp>
        <p:nvSpPr>
          <p:cNvPr id="45057" name="Text Box 1">
            <a:extLst>
              <a:ext uri="{FF2B5EF4-FFF2-40B4-BE49-F238E27FC236}">
                <a16:creationId xmlns:a16="http://schemas.microsoft.com/office/drawing/2014/main" id="{46C1B981-A3F0-7240-93C7-BEDE6B96D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0" y="8839200"/>
            <a:ext cx="3054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buClrTx/>
              <a:buFontTx/>
              <a:buNone/>
            </a:pPr>
            <a:fld id="{E0CC0616-6962-8B40-8C88-3E2C559D509D}" type="slidenum">
              <a:rPr lang="en-US" altLang="en-IT" sz="1200"/>
              <a:pPr algn="r">
                <a:buClrTx/>
                <a:buFontTx/>
                <a:buNone/>
              </a:pPr>
              <a:t>3</a:t>
            </a:fld>
            <a:endParaRPr lang="en-US" altLang="en-IT" sz="1200"/>
          </a:p>
        </p:txBody>
      </p:sp>
      <p:sp>
        <p:nvSpPr>
          <p:cNvPr id="45058" name="Text Box 2">
            <a:extLst>
              <a:ext uri="{FF2B5EF4-FFF2-40B4-BE49-F238E27FC236}">
                <a16:creationId xmlns:a16="http://schemas.microsoft.com/office/drawing/2014/main" id="{33167722-97E5-DD42-9F6D-6A80679854D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36650" y="685800"/>
            <a:ext cx="4673600" cy="3505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B8E57024-6432-2442-A0EE-8BB8024F8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988" y="4419600"/>
            <a:ext cx="5114925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IT" sz="1200"/>
              <a:t>Peierls: Proved long-range order at low temperatures (broken symmetry), no long-range order at high temperatures. Hence there must be a phase transition, where the up-down symmetry of the ground state is first broken.</a:t>
            </a:r>
          </a:p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IT" sz="1200"/>
              <a:t>Onsager: Calculated the properties exactly, showing (1) that there was a continuous phase transition, and (2) that it wasn</a:t>
            </a:r>
            <a:r>
              <a:rPr lang="ja-JP" altLang="en-IT" sz="1200"/>
              <a:t>’</a:t>
            </a:r>
            <a:r>
              <a:rPr lang="en-US" altLang="en-IT" sz="1200"/>
              <a:t>t described by Landau theory, and had weird power-law singularities in most properties.</a:t>
            </a:r>
          </a:p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IT" sz="1200"/>
              <a:t>Key idea: A continuous transition between short-range and long-range order may be characterized by fluctuating order on all scales.</a:t>
            </a:r>
          </a:p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IT" sz="1200"/>
              <a:t>Ken Wilson, Michael Fisher: Studied the Ising model in different dimensions. Above four dimensions, Landau (mean-field) theory gives the correct critical exponents: thermal fluctuations average out on large length scales. They were able to calculate the critical exponents in a power series about four dimensions, the so-called epsilon-expansion, where epsilon here is 4-d.</a:t>
            </a:r>
          </a:p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IT" sz="1200"/>
              <a:t>Plot M(T).</a:t>
            </a:r>
          </a:p>
          <a:p>
            <a:pPr>
              <a:spcBef>
                <a:spcPts val="450"/>
              </a:spcBef>
              <a:buClrTx/>
              <a:buFontTx/>
              <a:buNone/>
            </a:pPr>
            <a:r>
              <a:rPr lang="en-US" altLang="en-IT" sz="1200"/>
              <a:t>Plot C(R) = &lt;M(x+R) M(x)&gt;. 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BE70EAC-E410-4422-9B64-B81F972152A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F95C8CB-545D-477A-9A4F-D18080F5DC6F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871A411-95B6-4624-9FCA-B44C6A7B768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438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438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F422D7-4C80-4E19-AF13-ABC17AB8A9B1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665481E-998A-4D48-BE3F-D1FCC075CED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3453CC-0C59-4096-916C-D6C336E7F27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438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F1EF6A2-6EDF-4925-AE7E-8F66D8D5DAC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438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D0FBF87-194B-43B8-9578-3EDB800D619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2953FA7-08D4-4F90-8DC3-F57D0CABE41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0322E40-43D4-4EFE-B8AA-B1E80C51316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24982B1-1EE4-46AA-B0D6-88430900A90A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76904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76904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405936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405936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4059360"/>
            <a:ext cx="2920680" cy="20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BE1EE8C-AACB-41DA-AF1C-6C8FC6993438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indent="0" algn="r">
              <a:buNone/>
            </a:pPr>
            <a:fld id="{CBE3D981-9D51-42CE-9A34-0CB2F5FD3204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emf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image" Target="../media/image26.tif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/>
          <p:nvPr/>
        </p:nvPicPr>
        <p:blipFill>
          <a:blip r:embed="rId2"/>
          <a:stretch/>
        </p:blipFill>
        <p:spPr>
          <a:xfrm>
            <a:off x="4412880" y="4298400"/>
            <a:ext cx="3347640" cy="2925360"/>
          </a:xfrm>
          <a:prstGeom prst="rect">
            <a:avLst/>
          </a:prstGeom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latin typeface="Arial"/>
              </a:rPr>
              <a:t>The Ising model</a:t>
            </a:r>
          </a:p>
        </p:txBody>
      </p:sp>
      <p:pic>
        <p:nvPicPr>
          <p:cNvPr id="43" name="Picture 42"/>
          <p:cNvPicPr/>
          <p:nvPr/>
        </p:nvPicPr>
        <p:blipFill>
          <a:blip r:embed="rId3"/>
          <a:stretch/>
        </p:blipFill>
        <p:spPr>
          <a:xfrm>
            <a:off x="432360" y="1546560"/>
            <a:ext cx="2768040" cy="2751120"/>
          </a:xfrm>
          <a:prstGeom prst="rect">
            <a:avLst/>
          </a:prstGeom>
          <a:ln w="0">
            <a:noFill/>
          </a:ln>
        </p:spPr>
      </p:pic>
      <p:pic>
        <p:nvPicPr>
          <p:cNvPr id="44" name="Picture 43"/>
          <p:cNvPicPr/>
          <p:nvPr/>
        </p:nvPicPr>
        <p:blipFill>
          <a:blip r:embed="rId4"/>
          <a:stretch/>
        </p:blipFill>
        <p:spPr>
          <a:xfrm>
            <a:off x="948240" y="5133600"/>
            <a:ext cx="2709360" cy="1358640"/>
          </a:xfrm>
          <a:prstGeom prst="rect">
            <a:avLst/>
          </a:prstGeom>
          <a:ln w="0">
            <a:noFill/>
          </a:ln>
        </p:spPr>
      </p:pic>
      <p:pic>
        <p:nvPicPr>
          <p:cNvPr id="45" name="Picture 44"/>
          <p:cNvPicPr/>
          <p:nvPr/>
        </p:nvPicPr>
        <p:blipFill>
          <a:blip r:embed="rId5"/>
          <a:stretch/>
        </p:blipFill>
        <p:spPr>
          <a:xfrm>
            <a:off x="3550722" y="1432080"/>
            <a:ext cx="2667240" cy="821880"/>
          </a:xfrm>
          <a:prstGeom prst="rect">
            <a:avLst/>
          </a:prstGeom>
          <a:ln w="0">
            <a:noFill/>
          </a:ln>
        </p:spPr>
      </p:pic>
      <p:pic>
        <p:nvPicPr>
          <p:cNvPr id="46" name="Picture 45"/>
          <p:cNvPicPr/>
          <p:nvPr/>
        </p:nvPicPr>
        <p:blipFill>
          <a:blip r:embed="rId6"/>
          <a:stretch/>
        </p:blipFill>
        <p:spPr>
          <a:xfrm>
            <a:off x="3970302" y="3908908"/>
            <a:ext cx="914040" cy="293400"/>
          </a:xfrm>
          <a:prstGeom prst="rect">
            <a:avLst/>
          </a:prstGeom>
          <a:ln w="0">
            <a:noFill/>
          </a:ln>
        </p:spPr>
      </p:pic>
      <p:pic>
        <p:nvPicPr>
          <p:cNvPr id="47" name="Picture 46"/>
          <p:cNvPicPr/>
          <p:nvPr/>
        </p:nvPicPr>
        <p:blipFill>
          <a:blip r:embed="rId7"/>
          <a:stretch/>
        </p:blipFill>
        <p:spPr>
          <a:xfrm>
            <a:off x="4189388" y="2156124"/>
            <a:ext cx="318600" cy="20088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47"/>
          <p:cNvPicPr/>
          <p:nvPr/>
        </p:nvPicPr>
        <p:blipFill>
          <a:blip r:embed="rId8"/>
          <a:stretch/>
        </p:blipFill>
        <p:spPr>
          <a:xfrm>
            <a:off x="3946748" y="2156124"/>
            <a:ext cx="192600" cy="200880"/>
          </a:xfrm>
          <a:prstGeom prst="rect">
            <a:avLst/>
          </a:prstGeom>
          <a:ln w="0">
            <a:noFill/>
          </a:ln>
        </p:spPr>
      </p:pic>
      <p:pic>
        <p:nvPicPr>
          <p:cNvPr id="49" name="Picture 48"/>
          <p:cNvPicPr/>
          <p:nvPr/>
        </p:nvPicPr>
        <p:blipFill>
          <a:blip r:embed="rId9"/>
          <a:stretch/>
        </p:blipFill>
        <p:spPr>
          <a:xfrm>
            <a:off x="5775728" y="3942568"/>
            <a:ext cx="1366920" cy="226080"/>
          </a:xfrm>
          <a:prstGeom prst="rect">
            <a:avLst/>
          </a:prstGeom>
          <a:ln w="0">
            <a:noFill/>
          </a:ln>
        </p:spPr>
      </p:pic>
      <p:sp>
        <p:nvSpPr>
          <p:cNvPr id="50" name="TextBox 49"/>
          <p:cNvSpPr txBox="1"/>
          <p:nvPr/>
        </p:nvSpPr>
        <p:spPr>
          <a:xfrm>
            <a:off x="3783600" y="3115384"/>
            <a:ext cx="251244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 dirty="0">
                <a:latin typeface="Arial"/>
              </a:rPr>
              <a:t>J &gt; 0 ferromagnetic</a:t>
            </a:r>
          </a:p>
          <a:p>
            <a:r>
              <a:rPr lang="en-US" sz="1800" b="0" strike="noStrike" spc="-1" dirty="0">
                <a:latin typeface="Arial"/>
              </a:rPr>
              <a:t>J &lt; 0 antiferromagnetic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0DF38D-6885-9B45-953D-F52A61629D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0897" y="2581908"/>
            <a:ext cx="5056581" cy="2739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latin typeface="Arial"/>
              </a:rPr>
              <a:t>Critical points</a:t>
            </a:r>
          </a:p>
        </p:txBody>
      </p:sp>
      <p:pic>
        <p:nvPicPr>
          <p:cNvPr id="79" name="Picture 78"/>
          <p:cNvPicPr/>
          <p:nvPr/>
        </p:nvPicPr>
        <p:blipFill>
          <a:blip r:embed="rId2"/>
          <a:stretch/>
        </p:blipFill>
        <p:spPr>
          <a:xfrm>
            <a:off x="1237680" y="1828800"/>
            <a:ext cx="2877120" cy="2608560"/>
          </a:xfrm>
          <a:prstGeom prst="rect">
            <a:avLst/>
          </a:prstGeom>
          <a:ln w="0">
            <a:noFill/>
          </a:ln>
        </p:spPr>
      </p:pic>
      <p:pic>
        <p:nvPicPr>
          <p:cNvPr id="80" name="Picture 79"/>
          <p:cNvPicPr/>
          <p:nvPr/>
        </p:nvPicPr>
        <p:blipFill>
          <a:blip r:embed="rId3"/>
          <a:stretch/>
        </p:blipFill>
        <p:spPr>
          <a:xfrm>
            <a:off x="5094000" y="2402280"/>
            <a:ext cx="2952720" cy="1895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1">
            <a:extLst>
              <a:ext uri="{FF2B5EF4-FFF2-40B4-BE49-F238E27FC236}">
                <a16:creationId xmlns:a16="http://schemas.microsoft.com/office/drawing/2014/main" id="{E3C0FB7A-CE91-2F44-A0B5-5E449A1CB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496" y="167992"/>
            <a:ext cx="8567632" cy="671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IT" sz="4850"/>
              <a:t>The Ising Model at T</a:t>
            </a:r>
            <a:r>
              <a:rPr lang="en-US" altLang="en-IT" sz="4850" baseline="-25000"/>
              <a:t>c</a:t>
            </a:r>
          </a:p>
        </p:txBody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045D0565-F81D-1446-BB25-4DC8D9BF6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464" y="755967"/>
            <a:ext cx="7055697" cy="671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882"/>
              </a:spcBef>
            </a:pPr>
            <a:r>
              <a:rPr lang="en-US" altLang="en-IT" sz="3527">
                <a:solidFill>
                  <a:srgbClr val="3333CC"/>
                </a:solidFill>
              </a:rPr>
              <a:t>Structure on All Scales</a:t>
            </a:r>
          </a:p>
        </p:txBody>
      </p:sp>
      <p:pic>
        <p:nvPicPr>
          <p:cNvPr id="4099" name="Object 3">
            <a:extLst>
              <a:ext uri="{FF2B5EF4-FFF2-40B4-BE49-F238E27FC236}">
                <a16:creationId xmlns:a16="http://schemas.microsoft.com/office/drawing/2014/main" id="{BA3B4FE1-3A1F-B549-93E7-9F7159F39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18" y="1763924"/>
            <a:ext cx="4691549" cy="470379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00" name="Text Box 4">
            <a:extLst>
              <a:ext uri="{FF2B5EF4-FFF2-40B4-BE49-F238E27FC236}">
                <a16:creationId xmlns:a16="http://schemas.microsoft.com/office/drawing/2014/main" id="{74956922-C03F-AA4B-B44B-D762B5ECE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305" y="1935417"/>
            <a:ext cx="4871791" cy="4175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208" tIns="51588" rIns="99208" bIns="51588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Times New Roman" panose="02020603050405020304" pitchFamily="18" charset="0"/>
              <a:buChar char="•"/>
            </a:pPr>
            <a:r>
              <a:rPr lang="en-US" altLang="en-IT" sz="2646"/>
              <a:t> Continuous Phase Transition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IT" sz="2646"/>
              <a:t> Competition Entropy vs. Energy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IT" sz="2646"/>
              <a:t> Thermal Disorder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IT" sz="2646"/>
              <a:t> High Temperature: </a:t>
            </a:r>
          </a:p>
          <a:p>
            <a:pPr>
              <a:buClrTx/>
              <a:buFontTx/>
              <a:buNone/>
            </a:pPr>
            <a:r>
              <a:rPr lang="en-US" altLang="en-IT" sz="2646"/>
              <a:t>      Random </a:t>
            </a:r>
            <a:r>
              <a:rPr lang="en-US" altLang="en-IT" sz="2646" i="1">
                <a:latin typeface="Symbol" pitchFamily="2" charset="2"/>
              </a:rPr>
              <a:t></a:t>
            </a:r>
            <a:r>
              <a:rPr lang="en-US" altLang="en-IT" sz="2646" i="1"/>
              <a:t>~(T-T</a:t>
            </a:r>
            <a:r>
              <a:rPr lang="en-US" altLang="en-IT" sz="2646" i="1" baseline="-25000"/>
              <a:t>c</a:t>
            </a:r>
            <a:r>
              <a:rPr lang="en-US" altLang="en-IT" sz="2646" i="1"/>
              <a:t>)</a:t>
            </a:r>
            <a:r>
              <a:rPr lang="en-US" altLang="en-IT" sz="2646" i="1" baseline="30000"/>
              <a:t>-</a:t>
            </a:r>
            <a:r>
              <a:rPr lang="en-US" altLang="en-IT" sz="2646" i="1" baseline="30000">
                <a:latin typeface="Symbol" pitchFamily="2" charset="2"/>
              </a:rPr>
              <a:t>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IT" sz="2646"/>
              <a:t> Critical Point</a:t>
            </a:r>
          </a:p>
          <a:p>
            <a:pPr lvl="1">
              <a:buFont typeface="Times New Roman" panose="02020603050405020304" pitchFamily="18" charset="0"/>
              <a:buChar char="•"/>
            </a:pPr>
            <a:r>
              <a:rPr lang="en-US" altLang="en-IT" sz="2646"/>
              <a:t> </a:t>
            </a:r>
            <a:r>
              <a:rPr lang="en-US" altLang="en-IT" sz="2646" i="1"/>
              <a:t>T</a:t>
            </a:r>
            <a:r>
              <a:rPr lang="en-US" altLang="en-IT" sz="2646" i="1" baseline="-25000"/>
              <a:t>c</a:t>
            </a:r>
            <a:r>
              <a:rPr lang="en-US" altLang="en-IT" sz="2646"/>
              <a:t> = 2/log(1+</a:t>
            </a:r>
            <a:r>
              <a:rPr lang="en-US" altLang="en-IT" sz="2646">
                <a:latin typeface="Symbol" pitchFamily="2" charset="2"/>
              </a:rPr>
              <a:t></a:t>
            </a:r>
            <a:r>
              <a:rPr lang="en-US" altLang="en-IT" sz="2646"/>
              <a:t>2) ~ 2.27</a:t>
            </a:r>
          </a:p>
          <a:p>
            <a:pPr lvl="1">
              <a:buFont typeface="Times New Roman" panose="02020603050405020304" pitchFamily="18" charset="0"/>
              <a:buChar char="•"/>
            </a:pPr>
            <a:r>
              <a:rPr lang="en-US" altLang="en-IT" sz="2646"/>
              <a:t> Scale invariant </a:t>
            </a:r>
            <a:r>
              <a:rPr lang="en-US" altLang="en-IT" sz="2646" i="1"/>
              <a:t>C(r)~r</a:t>
            </a:r>
            <a:r>
              <a:rPr lang="en-US" altLang="en-IT" sz="2646" i="1" baseline="30000"/>
              <a:t>2-d+</a:t>
            </a:r>
            <a:r>
              <a:rPr lang="en-US" altLang="en-IT" sz="2646" i="1" baseline="30000">
                <a:latin typeface="Symbol" pitchFamily="2" charset="2"/>
              </a:rPr>
              <a:t></a:t>
            </a:r>
          </a:p>
          <a:p>
            <a:pPr>
              <a:buFont typeface="Times New Roman" panose="02020603050405020304" pitchFamily="18" charset="0"/>
              <a:buChar char="•"/>
            </a:pPr>
            <a:r>
              <a:rPr lang="en-US" altLang="en-IT" sz="2646"/>
              <a:t> Low Temperature</a:t>
            </a:r>
          </a:p>
          <a:p>
            <a:pPr>
              <a:buClrTx/>
              <a:buFontTx/>
              <a:buNone/>
            </a:pPr>
            <a:r>
              <a:rPr lang="en-US" altLang="en-IT" sz="2646"/>
              <a:t>      Long-Range Order </a:t>
            </a:r>
            <a:r>
              <a:rPr lang="en-US" altLang="en-IT" sz="2646" i="1"/>
              <a:t>M~(T</a:t>
            </a:r>
            <a:r>
              <a:rPr lang="en-US" altLang="en-IT" sz="2646" i="1" baseline="-25000"/>
              <a:t>c</a:t>
            </a:r>
            <a:r>
              <a:rPr lang="en-US" altLang="en-IT" sz="2646" i="1"/>
              <a:t>-T)</a:t>
            </a:r>
            <a:r>
              <a:rPr lang="en-US" altLang="en-IT" sz="2646" i="1" baseline="30000">
                <a:latin typeface="Symbol" pitchFamily="2" charset="2"/>
              </a:rPr>
              <a:t>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latin typeface="Arial"/>
              </a:rPr>
              <a:t>Monte Carlo Simulations</a:t>
            </a:r>
          </a:p>
        </p:txBody>
      </p:sp>
      <p:pic>
        <p:nvPicPr>
          <p:cNvPr id="118" name="Picture 117"/>
          <p:cNvPicPr/>
          <p:nvPr/>
        </p:nvPicPr>
        <p:blipFill>
          <a:blip r:embed="rId2"/>
          <a:stretch/>
        </p:blipFill>
        <p:spPr>
          <a:xfrm>
            <a:off x="420480" y="1592640"/>
            <a:ext cx="3145680" cy="41904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118"/>
          <p:cNvPicPr/>
          <p:nvPr/>
        </p:nvPicPr>
        <p:blipFill>
          <a:blip r:embed="rId3"/>
          <a:stretch/>
        </p:blipFill>
        <p:spPr>
          <a:xfrm>
            <a:off x="861480" y="2103480"/>
            <a:ext cx="4571640" cy="182844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19"/>
          <p:cNvPicPr/>
          <p:nvPr/>
        </p:nvPicPr>
        <p:blipFill>
          <a:blip r:embed="rId4"/>
          <a:stretch/>
        </p:blipFill>
        <p:spPr>
          <a:xfrm>
            <a:off x="1554480" y="4114800"/>
            <a:ext cx="5494320" cy="57024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120"/>
          <p:cNvPicPr/>
          <p:nvPr/>
        </p:nvPicPr>
        <p:blipFill>
          <a:blip r:embed="rId5"/>
          <a:stretch/>
        </p:blipFill>
        <p:spPr>
          <a:xfrm>
            <a:off x="2651760" y="5212080"/>
            <a:ext cx="5813280" cy="486360"/>
          </a:xfrm>
          <a:prstGeom prst="rect">
            <a:avLst/>
          </a:prstGeom>
          <a:ln w="0">
            <a:noFill/>
          </a:ln>
        </p:spPr>
      </p:pic>
      <p:sp>
        <p:nvSpPr>
          <p:cNvPr id="122" name="Freeform 121"/>
          <p:cNvSpPr/>
          <p:nvPr/>
        </p:nvSpPr>
        <p:spPr>
          <a:xfrm>
            <a:off x="640080" y="2194560"/>
            <a:ext cx="4114800" cy="4389120"/>
          </a:xfrm>
          <a:custGeom>
            <a:avLst/>
            <a:gdLst/>
            <a:ahLst/>
            <a:cxnLst/>
            <a:rect l="0" t="0" r="r" b="b"/>
            <a:pathLst>
              <a:path w="11430" h="12192" fill="none">
                <a:moveTo>
                  <a:pt x="11430" y="10414"/>
                </a:moveTo>
                <a:lnTo>
                  <a:pt x="11430" y="12192"/>
                </a:lnTo>
                <a:lnTo>
                  <a:pt x="0" y="12192"/>
                </a:lnTo>
                <a:lnTo>
                  <a:pt x="0" y="0"/>
                </a:lnTo>
              </a:path>
            </a:pathLst>
          </a:custGeom>
          <a:ln w="0">
            <a:solidFill>
              <a:srgbClr val="000000"/>
            </a:solidFill>
            <a:tailEnd type="triangle" w="med" len="med"/>
          </a:ln>
        </p:spPr>
        <p:txBody>
          <a:bodyPr/>
          <a:lstStyle/>
          <a:p>
            <a:endParaRPr lang="en-LV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latin typeface="Arial"/>
              </a:rPr>
              <a:t>Markov chains</a:t>
            </a:r>
          </a:p>
        </p:txBody>
      </p:sp>
      <p:pic>
        <p:nvPicPr>
          <p:cNvPr id="124" name="Picture 123"/>
          <p:cNvPicPr/>
          <p:nvPr/>
        </p:nvPicPr>
        <p:blipFill>
          <a:blip r:embed="rId2"/>
          <a:stretch/>
        </p:blipFill>
        <p:spPr>
          <a:xfrm>
            <a:off x="673920" y="1645920"/>
            <a:ext cx="880560" cy="243000"/>
          </a:xfrm>
          <a:prstGeom prst="rect">
            <a:avLst/>
          </a:prstGeom>
          <a:ln w="0">
            <a:noFill/>
          </a:ln>
        </p:spPr>
      </p:pic>
      <p:pic>
        <p:nvPicPr>
          <p:cNvPr id="125" name="Picture 124"/>
          <p:cNvPicPr/>
          <p:nvPr/>
        </p:nvPicPr>
        <p:blipFill>
          <a:blip r:embed="rId3"/>
          <a:stretch/>
        </p:blipFill>
        <p:spPr>
          <a:xfrm>
            <a:off x="2088360" y="1646640"/>
            <a:ext cx="2575080" cy="23436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125"/>
          <p:cNvPicPr/>
          <p:nvPr/>
        </p:nvPicPr>
        <p:blipFill>
          <a:blip r:embed="rId4"/>
          <a:stretch/>
        </p:blipFill>
        <p:spPr>
          <a:xfrm>
            <a:off x="5407200" y="1665360"/>
            <a:ext cx="536400" cy="25128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126"/>
          <p:cNvPicPr/>
          <p:nvPr/>
        </p:nvPicPr>
        <p:blipFill>
          <a:blip r:embed="rId5"/>
          <a:stretch/>
        </p:blipFill>
        <p:spPr>
          <a:xfrm>
            <a:off x="714960" y="2103120"/>
            <a:ext cx="3674160" cy="28476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127"/>
          <p:cNvPicPr/>
          <p:nvPr/>
        </p:nvPicPr>
        <p:blipFill>
          <a:blip r:embed="rId6"/>
          <a:stretch/>
        </p:blipFill>
        <p:spPr>
          <a:xfrm>
            <a:off x="468360" y="2596680"/>
            <a:ext cx="5200920" cy="163548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128"/>
          <p:cNvPicPr/>
          <p:nvPr/>
        </p:nvPicPr>
        <p:blipFill>
          <a:blip r:embed="rId7"/>
          <a:stretch/>
        </p:blipFill>
        <p:spPr>
          <a:xfrm>
            <a:off x="421560" y="4297680"/>
            <a:ext cx="3053160" cy="30996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129"/>
          <p:cNvPicPr/>
          <p:nvPr/>
        </p:nvPicPr>
        <p:blipFill>
          <a:blip r:embed="rId8"/>
          <a:stretch/>
        </p:blipFill>
        <p:spPr>
          <a:xfrm>
            <a:off x="356040" y="4825800"/>
            <a:ext cx="3850200" cy="477720"/>
          </a:xfrm>
          <a:prstGeom prst="rect">
            <a:avLst/>
          </a:prstGeom>
          <a:ln w="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365407-AEED-0F4C-9D18-2C7229593D19}"/>
              </a:ext>
            </a:extLst>
          </p:cNvPr>
          <p:cNvPicPr/>
          <p:nvPr/>
        </p:nvPicPr>
        <p:blipFill>
          <a:blip r:embed="rId9"/>
          <a:stretch/>
        </p:blipFill>
        <p:spPr>
          <a:xfrm>
            <a:off x="910837" y="6321352"/>
            <a:ext cx="1954440" cy="486360"/>
          </a:xfrm>
          <a:prstGeom prst="rect">
            <a:avLst/>
          </a:prstGeom>
          <a:ln w="0"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EDFE4D-45CB-EB42-A3E9-68756BB276F8}"/>
              </a:ext>
            </a:extLst>
          </p:cNvPr>
          <p:cNvSpPr txBox="1"/>
          <p:nvPr/>
        </p:nvSpPr>
        <p:spPr>
          <a:xfrm>
            <a:off x="910837" y="5886472"/>
            <a:ext cx="19468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800" b="0" strike="noStrike" spc="-1">
                <a:latin typeface="Arial"/>
              </a:rPr>
              <a:t>Detailed balance: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C7A40-4EB8-0C44-A995-68A8F793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Metropolis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92AB8-2A2F-8241-A1AC-CDE9414B3CA3}"/>
              </a:ext>
            </a:extLst>
          </p:cNvPr>
          <p:cNvSpPr txBox="1"/>
          <p:nvPr/>
        </p:nvSpPr>
        <p:spPr>
          <a:xfrm>
            <a:off x="1024247" y="2010122"/>
            <a:ext cx="78228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+mj-lt"/>
              </a:rPr>
              <a:t>A single update of the Metropolis algorithm works as follows:</a:t>
            </a:r>
          </a:p>
          <a:p>
            <a:endParaRPr lang="en-GB" sz="2800" dirty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+mj-lt"/>
              </a:rPr>
              <a:t>Pick a site </a:t>
            </a:r>
            <a:r>
              <a:rPr lang="en-GB" sz="2800" dirty="0">
                <a:effectLst/>
                <a:latin typeface="+mj-lt"/>
              </a:rPr>
              <a:t>(</a:t>
            </a:r>
            <a:r>
              <a:rPr lang="en-GB" sz="2800" i="1" dirty="0">
                <a:effectLst/>
                <a:latin typeface="+mj-lt"/>
              </a:rPr>
              <a:t>𝑖</a:t>
            </a:r>
            <a:r>
              <a:rPr lang="en-GB" sz="2800" dirty="0">
                <a:effectLst/>
                <a:latin typeface="+mj-lt"/>
              </a:rPr>
              <a:t>,</a:t>
            </a:r>
            <a:r>
              <a:rPr lang="en-GB" sz="2800" i="1" dirty="0">
                <a:effectLst/>
                <a:latin typeface="+mj-lt"/>
              </a:rPr>
              <a:t>𝑗</a:t>
            </a:r>
            <a:r>
              <a:rPr lang="en-GB" sz="2800" dirty="0">
                <a:effectLst/>
                <a:latin typeface="+mj-lt"/>
              </a:rPr>
              <a:t>) </a:t>
            </a:r>
            <a:r>
              <a:rPr lang="en-GB" sz="2800" dirty="0">
                <a:latin typeface="+mj-lt"/>
              </a:rPr>
              <a:t>at random.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+mj-lt"/>
              </a:rPr>
              <a:t>Calculate the energy change </a:t>
            </a:r>
            <a:r>
              <a:rPr lang="el-GR" sz="2800" dirty="0">
                <a:effectLst/>
                <a:latin typeface="+mj-lt"/>
              </a:rPr>
              <a:t>Δ</a:t>
            </a:r>
            <a:r>
              <a:rPr lang="el-GR" sz="2800" i="1" dirty="0">
                <a:effectLst/>
                <a:latin typeface="+mj-lt"/>
              </a:rPr>
              <a:t>𝐸</a:t>
            </a:r>
            <a:r>
              <a:rPr lang="el-GR" sz="2800" dirty="0">
                <a:latin typeface="+mj-lt"/>
              </a:rPr>
              <a:t> </a:t>
            </a:r>
            <a:r>
              <a:rPr lang="en-GB" sz="2800" dirty="0">
                <a:latin typeface="+mj-lt"/>
              </a:rPr>
              <a:t>that flipping the spin </a:t>
            </a:r>
            <a:r>
              <a:rPr lang="en-GB" sz="2800" i="1" dirty="0">
                <a:effectLst/>
                <a:latin typeface="+mj-lt"/>
              </a:rPr>
              <a:t>𝑠</a:t>
            </a:r>
            <a:r>
              <a:rPr lang="en-GB" sz="2800" i="1" baseline="-25000" dirty="0">
                <a:effectLst/>
                <a:latin typeface="+mj-lt"/>
              </a:rPr>
              <a:t>𝑖𝑗</a:t>
            </a:r>
            <a:r>
              <a:rPr lang="en-GB" sz="2800" dirty="0">
                <a:latin typeface="+mj-lt"/>
              </a:rPr>
              <a:t> would produce.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+mj-lt"/>
              </a:rPr>
              <a:t>If </a:t>
            </a:r>
            <a:r>
              <a:rPr lang="el-GR" sz="2800" dirty="0">
                <a:effectLst/>
                <a:latin typeface="+mj-lt"/>
              </a:rPr>
              <a:t>Δ</a:t>
            </a:r>
            <a:r>
              <a:rPr lang="el-GR" sz="2800" i="1" dirty="0">
                <a:effectLst/>
                <a:latin typeface="+mj-lt"/>
              </a:rPr>
              <a:t>𝐸</a:t>
            </a:r>
            <a:r>
              <a:rPr lang="el-GR" sz="2800" dirty="0">
                <a:effectLst/>
                <a:latin typeface="+mj-lt"/>
              </a:rPr>
              <a:t>&lt;0</a:t>
            </a:r>
            <a:r>
              <a:rPr lang="el-GR" sz="2800" dirty="0">
                <a:latin typeface="+mj-lt"/>
              </a:rPr>
              <a:t>, </a:t>
            </a:r>
            <a:r>
              <a:rPr lang="en-GB" sz="2800" dirty="0">
                <a:latin typeface="+mj-lt"/>
              </a:rPr>
              <a:t>flip the spin with probability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+mj-lt"/>
              </a:rPr>
              <a:t>If </a:t>
            </a:r>
            <a:r>
              <a:rPr lang="el-GR" sz="2800" dirty="0">
                <a:effectLst/>
                <a:latin typeface="+mj-lt"/>
              </a:rPr>
              <a:t>Δ</a:t>
            </a:r>
            <a:r>
              <a:rPr lang="el-GR" sz="2800" i="1" dirty="0">
                <a:effectLst/>
                <a:latin typeface="+mj-lt"/>
              </a:rPr>
              <a:t>𝐸</a:t>
            </a:r>
            <a:r>
              <a:rPr lang="el-GR" sz="2800" dirty="0">
                <a:effectLst/>
                <a:latin typeface="+mj-lt"/>
              </a:rPr>
              <a:t>&gt;0</a:t>
            </a:r>
            <a:r>
              <a:rPr lang="el-GR" sz="2800" dirty="0">
                <a:latin typeface="+mj-lt"/>
              </a:rPr>
              <a:t>, </a:t>
            </a:r>
            <a:r>
              <a:rPr lang="en-GB" sz="2800" dirty="0">
                <a:latin typeface="+mj-lt"/>
              </a:rPr>
              <a:t>flip the spin with probability</a:t>
            </a:r>
            <a:r>
              <a:rPr lang="en-GB" sz="2800" i="1" dirty="0">
                <a:effectLst/>
                <a:latin typeface="+mj-lt"/>
              </a:rPr>
              <a:t>𝑒</a:t>
            </a:r>
            <a:r>
              <a:rPr lang="en-GB" sz="2800" baseline="30000" dirty="0">
                <a:effectLst/>
                <a:latin typeface="+mj-lt"/>
              </a:rPr>
              <a:t>−</a:t>
            </a:r>
            <a:r>
              <a:rPr lang="en-GB" sz="2800" i="1" baseline="30000" dirty="0">
                <a:effectLst/>
                <a:latin typeface="+mj-lt"/>
              </a:rPr>
              <a:t>𝛽</a:t>
            </a:r>
            <a:r>
              <a:rPr lang="el-GR" sz="2800" baseline="30000" dirty="0">
                <a:effectLst/>
                <a:latin typeface="+mj-lt"/>
              </a:rPr>
              <a:t>Δ</a:t>
            </a:r>
            <a:r>
              <a:rPr lang="el-GR" sz="2800" i="1" baseline="30000" dirty="0">
                <a:effectLst/>
                <a:latin typeface="+mj-lt"/>
              </a:rPr>
              <a:t>𝐸</a:t>
            </a:r>
            <a:r>
              <a:rPr lang="el-GR" sz="2800" dirty="0">
                <a:latin typeface="+mj-lt"/>
              </a:rPr>
              <a:t>.</a:t>
            </a:r>
            <a:endParaRPr lang="en-IT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7561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52A3-E887-7947-97FD-5F86E1D1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Coarsening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8FEA0-6DC1-AB41-B8A7-A8963C0CF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30" y="2344737"/>
            <a:ext cx="7454900" cy="2870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6F896F-9228-3F49-933B-2070EC193949}"/>
              </a:ext>
            </a:extLst>
          </p:cNvPr>
          <p:cNvSpPr txBox="1"/>
          <p:nvPr/>
        </p:nvSpPr>
        <p:spPr>
          <a:xfrm>
            <a:off x="1039730" y="1769442"/>
            <a:ext cx="3395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Start form T &gt; Tc then set T &lt;Tc</a:t>
            </a:r>
          </a:p>
        </p:txBody>
      </p:sp>
    </p:spTree>
    <p:extLst>
      <p:ext uri="{BB962C8B-B14F-4D97-AF65-F5344CB8AC3E}">
        <p14:creationId xmlns:p14="http://schemas.microsoft.com/office/powerpoint/2010/main" val="38767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252A3-E887-7947-97FD-5F86E1D10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Coarsening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219071-AD68-874D-A13B-2FA6739C4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356" y="1709654"/>
            <a:ext cx="7994928" cy="51305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F3A33D-C503-EC4A-891F-668B28975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356" y="1430914"/>
            <a:ext cx="34798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43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4EEBB-8D91-EA43-95C2-2202216F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A9F16-E55B-9A4C-9682-324CBF578AF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2298677"/>
            <a:ext cx="9071640" cy="1262160"/>
          </a:xfrm>
        </p:spPr>
        <p:txBody>
          <a:bodyPr/>
          <a:lstStyle/>
          <a:p>
            <a:r>
              <a:rPr lang="en-IT" dirty="0"/>
              <a:t>Simulate Ising model with Monte Carlo method</a:t>
            </a:r>
          </a:p>
          <a:p>
            <a:r>
              <a:rPr lang="en-IT" dirty="0"/>
              <a:t>Study coarsening </a:t>
            </a:r>
          </a:p>
          <a:p>
            <a:r>
              <a:rPr lang="en-IT" dirty="0"/>
              <a:t>Segregation in the Schelling model</a:t>
            </a:r>
          </a:p>
          <a:p>
            <a:endParaRPr lang="en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7EC955-2A4A-264F-AC05-760D3004A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820" y="3959950"/>
            <a:ext cx="4882250" cy="326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306FE8-7FA7-1641-A37D-312FB781BBD5}"/>
              </a:ext>
            </a:extLst>
          </p:cNvPr>
          <p:cNvSpPr txBox="1"/>
          <p:nvPr/>
        </p:nvSpPr>
        <p:spPr>
          <a:xfrm>
            <a:off x="504000" y="4391260"/>
            <a:ext cx="55024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</a:t>
            </a:r>
            <a:r>
              <a:rPr lang="en-IT" dirty="0"/>
              <a:t>opulation of A and B in a lattice</a:t>
            </a:r>
          </a:p>
          <a:p>
            <a:r>
              <a:rPr lang="en-IT" dirty="0"/>
              <a:t>- Check your neighbors</a:t>
            </a:r>
          </a:p>
          <a:p>
            <a:r>
              <a:rPr lang="en-IT" dirty="0"/>
              <a:t>- If too many are different from you (fraction is larger</a:t>
            </a:r>
          </a:p>
          <a:p>
            <a:r>
              <a:rPr lang="en-GB" dirty="0"/>
              <a:t>than tolerance threshold):</a:t>
            </a:r>
            <a:endParaRPr lang="en-IT" dirty="0"/>
          </a:p>
          <a:p>
            <a:r>
              <a:rPr lang="en-IT" dirty="0"/>
              <a:t>	move somewhere else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DD546-08E4-D346-B74B-EA2FDFC4C68C}"/>
              </a:ext>
            </a:extLst>
          </p:cNvPr>
          <p:cNvSpPr txBox="1"/>
          <p:nvPr/>
        </p:nvSpPr>
        <p:spPr>
          <a:xfrm>
            <a:off x="2007332" y="6059766"/>
            <a:ext cx="2852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Which toleration threshold</a:t>
            </a:r>
          </a:p>
          <a:p>
            <a:r>
              <a:rPr lang="en-IT" dirty="0"/>
              <a:t>leads to segregation?</a:t>
            </a:r>
          </a:p>
        </p:txBody>
      </p:sp>
    </p:spTree>
    <p:extLst>
      <p:ext uri="{BB962C8B-B14F-4D97-AF65-F5344CB8AC3E}">
        <p14:creationId xmlns:p14="http://schemas.microsoft.com/office/powerpoint/2010/main" val="1346872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416</Words>
  <Application>Microsoft Macintosh PowerPoint</Application>
  <PresentationFormat>Custom</PresentationFormat>
  <Paragraphs>48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Symbol</vt:lpstr>
      <vt:lpstr>Times New Roman</vt:lpstr>
      <vt:lpstr>Wingdings</vt:lpstr>
      <vt:lpstr>Office Theme</vt:lpstr>
      <vt:lpstr>The Ising model</vt:lpstr>
      <vt:lpstr>Critical points</vt:lpstr>
      <vt:lpstr>PowerPoint Presentation</vt:lpstr>
      <vt:lpstr>Monte Carlo Simulations</vt:lpstr>
      <vt:lpstr>Markov chains</vt:lpstr>
      <vt:lpstr>Metropolis algorithm</vt:lpstr>
      <vt:lpstr>Coarsening</vt:lpstr>
      <vt:lpstr>Coarsening</vt:lpstr>
      <vt:lpstr>Notebook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Ising model</dc:title>
  <dc:subject/>
  <dc:creator/>
  <dc:description/>
  <cp:lastModifiedBy>Linda Stalidzāne</cp:lastModifiedBy>
  <cp:revision>15</cp:revision>
  <dcterms:created xsi:type="dcterms:W3CDTF">2016-04-18T09:33:53Z</dcterms:created>
  <dcterms:modified xsi:type="dcterms:W3CDTF">2026-03-16T08:10:37Z</dcterms:modified>
  <dc:language>it-IT</dc:language>
</cp:coreProperties>
</file>